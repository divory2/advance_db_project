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44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68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" name="Shape 2"/>
          <p:cNvSpPr/>
          <p:nvPr/>
        </p:nvSpPr>
        <p:spPr>
          <a:xfrm>
            <a:off x="8046720" y="182880"/>
            <a:ext cx="1645920" cy="164592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78BFA"/>
                </a:solidFill>
              </a:rPr>
              <a:t>(AQP)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– Md Masum Billah &amp; Devon Ivory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/>
              <a:t>Dataset: Superstore.csv   |   Python · Pandas · Matplotlib · scipy.stats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1DA9D2A-C015-4350-ECBB-433C7E85878C}"/>
              </a:ext>
            </a:extLst>
          </p:cNvPr>
          <p:cNvSpPr/>
          <p:nvPr/>
        </p:nvSpPr>
        <p:spPr>
          <a:xfrm>
            <a:off x="548640" y="37627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B5FD"/>
                </a:solidFill>
              </a:rPr>
              <a:t>Comparing Random  ·  Stratified  ·  Adaptive Sampling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63D2F"/>
          </a:solidFill>
          <a:ln w="12700">
            <a:solidFill>
              <a:srgbClr val="063D2F"/>
            </a:solidFill>
            <a:prstDash val="solid"/>
          </a:ln>
        </p:spPr>
        <p:txBody>
          <a:bodyPr/>
          <a:lstStyle/>
          <a:p>
            <a:endParaRPr lang="en-VI" dirty="0">
              <a:highlight>
                <a:srgbClr val="00FF00"/>
              </a:highlight>
            </a:endParaRPr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10B981"/>
                </a:solidFill>
              </a:rPr>
              <a:t>CONTENTS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920240"/>
            <a:ext cx="2743200" cy="2286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</a:rPr>
              <a:t>01  Problem Statement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3408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</a:rPr>
              <a:t>02  Dataset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243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</a:rPr>
              <a:t>03  Random Sampling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907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</a:rPr>
              <a:t>04  Stratified Sampling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1912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</a:rPr>
              <a:t>05  Adaptive Sampling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474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06  Error Metrics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758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07  Confidence Intervals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404164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08  Code Walkthrough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432511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09  Experiments &amp; 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6085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</a:rPr>
              <a:t>10  Key Takeaways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0" y="1005840"/>
            <a:ext cx="1600200" cy="1463040"/>
          </a:xfrm>
          <a:prstGeom prst="rect">
            <a:avLst/>
          </a:prstGeom>
          <a:solidFill>
            <a:srgbClr val="0F5C44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7" name="Text 15"/>
          <p:cNvSpPr/>
          <p:nvPr/>
        </p:nvSpPr>
        <p:spPr>
          <a:xfrm>
            <a:off x="384048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840480" y="1737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Sampling Methods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1005840"/>
            <a:ext cx="1600200" cy="1463040"/>
          </a:xfrm>
          <a:prstGeom prst="rect">
            <a:avLst/>
          </a:prstGeom>
          <a:solidFill>
            <a:srgbClr val="0D4D39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0" name="Text 18"/>
          <p:cNvSpPr/>
          <p:nvPr/>
        </p:nvSpPr>
        <p:spPr>
          <a:xfrm>
            <a:off x="562356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623560" y="1737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Aggregations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06640" y="1005840"/>
            <a:ext cx="1600200" cy="1463040"/>
          </a:xfrm>
          <a:prstGeom prst="rect">
            <a:avLst/>
          </a:prstGeom>
          <a:solidFill>
            <a:srgbClr val="0A3D2E"/>
          </a:solidFill>
          <a:ln w="63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3" name="Text 21"/>
          <p:cNvSpPr/>
          <p:nvPr/>
        </p:nvSpPr>
        <p:spPr>
          <a:xfrm>
            <a:off x="7406640" y="1143000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</a:rPr>
              <a:t>9+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06640" y="17373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E7B7"/>
                </a:solidFill>
              </a:rPr>
              <a:t>Charts Per Run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26517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The core question: Can we answer database queries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FASTER by looking at only a sample of the data?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40480" y="34747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7F3D0"/>
                </a:solidFill>
              </a:rPr>
              <a:t>This project tests three different sampling strategies and measures their speed vs accuracy trade-off using the Superstore retail dataset.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8BDF8">
              <a:alpha val="10000"/>
            </a:srgbClr>
          </a:solidFill>
          <a:ln w="12700">
            <a:solidFill>
              <a:srgbClr val="38BDF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38BDF8"/>
                </a:solidFill>
              </a:rPr>
              <a:t>01  /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Need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Queries?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931920" cy="2926080"/>
          </a:xfrm>
          <a:prstGeom prst="rect">
            <a:avLst/>
          </a:prstGeom>
          <a:solidFill>
            <a:srgbClr val="162032"/>
          </a:solidFill>
          <a:ln w="1016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EXACT QUERY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SUM(Sales)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Superstore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 = 2023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632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CA5A5"/>
                </a:solidFill>
              </a:rPr>
              <a:t>✗  Scans ALL 9,994 rows
✗  Gets slower as data grows
✗  Expensive on cloud databases
</a:t>
            </a:r>
            <a:r>
              <a:rPr lang="en-US" sz="1200" dirty="0">
                <a:solidFill>
                  <a:srgbClr val="86EFAC"/>
                </a:solidFill>
              </a:rPr>
              <a:t>✓  100% accurate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solidFill>
            <a:srgbClr val="0C1A30"/>
          </a:solidFill>
          <a:ln w="1016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4572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2" name="Text 10"/>
          <p:cNvSpPr/>
          <p:nvPr/>
        </p:nvSpPr>
        <p:spPr>
          <a:xfrm>
            <a:off x="4892040" y="171907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APPROXIMATE QUERY (AQP)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APPROX_SUM(Sales)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SAMPLE(Superstore, 20%)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306324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86EFAC"/>
                </a:solidFill>
              </a:rPr>
              <a:t>✓  Scans only 2,000 rows (20%)
✓  2–10× faster execution
✓  Saves cloud compute cost
</a:t>
            </a:r>
            <a:r>
              <a:rPr lang="en-US" sz="1200" dirty="0">
                <a:solidFill>
                  <a:srgbClr val="F59E0B"/>
                </a:solidFill>
              </a:rPr>
              <a:t>~  97–99% accurate (small error)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2834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/>
              <a:t>02  /  DATASET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Superstore.csv — The Data We Used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828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FCA5A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VI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F1D1D"/>
                </a:solidFill>
              </a:rPr>
              <a:t>9,994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Total rows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280160"/>
            <a:ext cx="1828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FCA5A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VI"/>
          </a:p>
        </p:txBody>
      </p:sp>
      <p:sp>
        <p:nvSpPr>
          <p:cNvPr id="9" name="Text 7"/>
          <p:cNvSpPr/>
          <p:nvPr/>
        </p:nvSpPr>
        <p:spPr>
          <a:xfrm>
            <a:off x="2514600" y="1353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F1D1D"/>
                </a:solidFill>
              </a:rPr>
              <a:t>3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146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Key columns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80160"/>
            <a:ext cx="1828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FCA5A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VI"/>
          </a:p>
        </p:txBody>
      </p:sp>
      <p:sp>
        <p:nvSpPr>
          <p:cNvPr id="12" name="Text 10"/>
          <p:cNvSpPr/>
          <p:nvPr/>
        </p:nvSpPr>
        <p:spPr>
          <a:xfrm>
            <a:off x="4572000" y="1353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F1D1D"/>
                </a:solidFill>
              </a:rPr>
              <a:t>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Regions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29400" y="1280160"/>
            <a:ext cx="182880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FCA5A5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VI"/>
          </a:p>
        </p:txBody>
      </p:sp>
      <p:sp>
        <p:nvSpPr>
          <p:cNvPr id="15" name="Text 13"/>
          <p:cNvSpPr/>
          <p:nvPr/>
        </p:nvSpPr>
        <p:spPr>
          <a:xfrm>
            <a:off x="6629400" y="135331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F1D1D"/>
                </a:solidFill>
              </a:rPr>
              <a:t>17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2940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F1D1D"/>
                </a:solidFill>
              </a:rPr>
              <a:t>Columns Used in This Project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1920240" cy="347472"/>
          </a:xfrm>
          <a:prstGeom prst="rect">
            <a:avLst/>
          </a:prstGeom>
          <a:solidFill>
            <a:srgbClr val="7F1D1D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9" name="Text 17"/>
          <p:cNvSpPr/>
          <p:nvPr/>
        </p:nvSpPr>
        <p:spPr>
          <a:xfrm>
            <a:off x="530352" y="28346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Column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77440" y="2834640"/>
            <a:ext cx="1371600" cy="347472"/>
          </a:xfrm>
          <a:prstGeom prst="rect">
            <a:avLst/>
          </a:prstGeom>
          <a:solidFill>
            <a:srgbClr val="7F1D1D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1" name="Text 19"/>
          <p:cNvSpPr/>
          <p:nvPr/>
        </p:nvSpPr>
        <p:spPr>
          <a:xfrm>
            <a:off x="2450592" y="283464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Type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2834640"/>
            <a:ext cx="1828800" cy="347472"/>
          </a:xfrm>
          <a:prstGeom prst="rect">
            <a:avLst/>
          </a:prstGeom>
          <a:solidFill>
            <a:srgbClr val="7F1D1D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3" name="Text 21"/>
          <p:cNvSpPr/>
          <p:nvPr/>
        </p:nvSpPr>
        <p:spPr>
          <a:xfrm>
            <a:off x="3822192" y="28346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2834640"/>
            <a:ext cx="2926080" cy="347472"/>
          </a:xfrm>
          <a:prstGeom prst="rect">
            <a:avLst/>
          </a:prstGeom>
          <a:solidFill>
            <a:srgbClr val="7F1D1D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5" name="Text 23"/>
          <p:cNvSpPr/>
          <p:nvPr/>
        </p:nvSpPr>
        <p:spPr>
          <a:xfrm>
            <a:off x="5650992" y="28346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Used For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182112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7" name="Text 25"/>
          <p:cNvSpPr/>
          <p:nvPr/>
        </p:nvSpPr>
        <p:spPr>
          <a:xfrm>
            <a:off x="530352" y="3182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377440" y="3182112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9" name="Text 27"/>
          <p:cNvSpPr/>
          <p:nvPr/>
        </p:nvSpPr>
        <p:spPr>
          <a:xfrm>
            <a:off x="2450592" y="31821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Numeric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3182112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1" name="Text 29"/>
          <p:cNvSpPr/>
          <p:nvPr/>
        </p:nvSpPr>
        <p:spPr>
          <a:xfrm>
            <a:off x="3822192" y="318211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$250.50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77840" y="3182112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3" name="Text 31"/>
          <p:cNvSpPr/>
          <p:nvPr/>
        </p:nvSpPr>
        <p:spPr>
          <a:xfrm>
            <a:off x="5650992" y="31821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SUM, AVG, MEDIAN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529584"/>
            <a:ext cx="192024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5" name="Text 33"/>
          <p:cNvSpPr/>
          <p:nvPr/>
        </p:nvSpPr>
        <p:spPr>
          <a:xfrm>
            <a:off x="530352" y="35295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Profit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529584"/>
            <a:ext cx="137160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7" name="Text 35"/>
          <p:cNvSpPr/>
          <p:nvPr/>
        </p:nvSpPr>
        <p:spPr>
          <a:xfrm>
            <a:off x="2450592" y="35295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Numeric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749040" y="3529584"/>
            <a:ext cx="182880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9" name="Text 37"/>
          <p:cNvSpPr/>
          <p:nvPr/>
        </p:nvSpPr>
        <p:spPr>
          <a:xfrm>
            <a:off x="3822192" y="352958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$45.20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577840" y="3529584"/>
            <a:ext cx="292608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1" name="Text 39"/>
          <p:cNvSpPr/>
          <p:nvPr/>
        </p:nvSpPr>
        <p:spPr>
          <a:xfrm>
            <a:off x="5650992" y="352958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SUM, AVG, MEDIAN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3877056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3" name="Text 41"/>
          <p:cNvSpPr/>
          <p:nvPr/>
        </p:nvSpPr>
        <p:spPr>
          <a:xfrm>
            <a:off x="530352" y="38770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Quantity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377440" y="3877056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5" name="Text 43"/>
          <p:cNvSpPr/>
          <p:nvPr/>
        </p:nvSpPr>
        <p:spPr>
          <a:xfrm>
            <a:off x="2450592" y="387705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Numeric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749040" y="3877056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7" name="Text 45"/>
          <p:cNvSpPr/>
          <p:nvPr/>
        </p:nvSpPr>
        <p:spPr>
          <a:xfrm>
            <a:off x="3822192" y="387705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3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577840" y="3877056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9" name="Text 47"/>
          <p:cNvSpPr/>
          <p:nvPr/>
        </p:nvSpPr>
        <p:spPr>
          <a:xfrm>
            <a:off x="5650992" y="387705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SUM, AVG, MEDIAN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" y="4224528"/>
            <a:ext cx="192024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1" name="Text 49"/>
          <p:cNvSpPr/>
          <p:nvPr/>
        </p:nvSpPr>
        <p:spPr>
          <a:xfrm>
            <a:off x="530352" y="4224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Category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377440" y="4224528"/>
            <a:ext cx="137160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3" name="Text 51"/>
          <p:cNvSpPr/>
          <p:nvPr/>
        </p:nvSpPr>
        <p:spPr>
          <a:xfrm>
            <a:off x="2450592" y="42245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Text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749040" y="4224528"/>
            <a:ext cx="182880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5" name="Text 53"/>
          <p:cNvSpPr/>
          <p:nvPr/>
        </p:nvSpPr>
        <p:spPr>
          <a:xfrm>
            <a:off x="3822192" y="42245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Furniture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577840" y="4224528"/>
            <a:ext cx="2926080" cy="347472"/>
          </a:xfrm>
          <a:prstGeom prst="rect">
            <a:avLst/>
          </a:prstGeom>
          <a:solidFill>
            <a:srgbClr val="FFF1F2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7" name="Text 55"/>
          <p:cNvSpPr/>
          <p:nvPr/>
        </p:nvSpPr>
        <p:spPr>
          <a:xfrm>
            <a:off x="5650992" y="422452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Grouping (Stratified)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" y="4572000"/>
            <a:ext cx="19202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9" name="Text 57"/>
          <p:cNvSpPr/>
          <p:nvPr/>
        </p:nvSpPr>
        <p:spPr>
          <a:xfrm>
            <a:off x="530352" y="4572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Region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377440" y="4572000"/>
            <a:ext cx="1371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1" name="Text 59"/>
          <p:cNvSpPr/>
          <p:nvPr/>
        </p:nvSpPr>
        <p:spPr>
          <a:xfrm>
            <a:off x="2450592" y="45720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Text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749040" y="4572000"/>
            <a:ext cx="1828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3" name="Text 61"/>
          <p:cNvSpPr/>
          <p:nvPr/>
        </p:nvSpPr>
        <p:spPr>
          <a:xfrm>
            <a:off x="3822192" y="45720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West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577840" y="4572000"/>
            <a:ext cx="29260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5" name="Text 63"/>
          <p:cNvSpPr/>
          <p:nvPr/>
        </p:nvSpPr>
        <p:spPr>
          <a:xfrm>
            <a:off x="5650992" y="457200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Grouping (Stratified)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/>
              <a:t>03  /  METHOD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Random Sampling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randomSampling.py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4114800" cy="1918882"/>
          </a:xfrm>
          <a:prstGeom prst="rect">
            <a:avLst/>
          </a:prstGeom>
          <a:solidFill>
            <a:srgbClr val="0C4A6E"/>
          </a:solidFill>
          <a:ln w="12700">
            <a:solidFill>
              <a:srgbClr val="07598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</a:rPr>
              <a:t>Core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Generate random fraction (1% – 60%)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fraction = np.random.uniform(0.01, 0.60)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the column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= df["Sales"].sample(frac=fraction)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Compute aggregation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sample.sum()   # or .mean() / .median()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417320"/>
            <a:ext cx="3840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VI"/>
          </a:p>
        </p:txBody>
      </p:sp>
      <p:sp>
        <p:nvSpPr>
          <p:cNvPr id="10" name="Shape 8"/>
          <p:cNvSpPr/>
          <p:nvPr/>
        </p:nvSpPr>
        <p:spPr>
          <a:xfrm>
            <a:off x="4937760" y="1417320"/>
            <a:ext cx="91440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1" name="Text 9"/>
          <p:cNvSpPr/>
          <p:nvPr/>
        </p:nvSpPr>
        <p:spPr>
          <a:xfrm>
            <a:off x="5120640" y="1472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</a:rPr>
              <a:t>Simple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17647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One line of pandas code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2286000"/>
            <a:ext cx="3840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VI"/>
          </a:p>
        </p:txBody>
      </p:sp>
      <p:sp>
        <p:nvSpPr>
          <p:cNvPr id="14" name="Shape 12"/>
          <p:cNvSpPr/>
          <p:nvPr/>
        </p:nvSpPr>
        <p:spPr>
          <a:xfrm>
            <a:off x="4937760" y="2286000"/>
            <a:ext cx="91440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5" name="Text 13"/>
          <p:cNvSpPr/>
          <p:nvPr/>
        </p:nvSpPr>
        <p:spPr>
          <a:xfrm>
            <a:off x="5120640" y="23408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</a:rPr>
              <a:t>Fast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6334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No pre-processing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154680"/>
            <a:ext cx="384048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BAE6FD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VI"/>
          </a:p>
        </p:txBody>
      </p:sp>
      <p:sp>
        <p:nvSpPr>
          <p:cNvPr id="18" name="Shape 16"/>
          <p:cNvSpPr/>
          <p:nvPr/>
        </p:nvSpPr>
        <p:spPr>
          <a:xfrm>
            <a:off x="4937760" y="3154680"/>
            <a:ext cx="91440" cy="7498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9" name="Text 17"/>
          <p:cNvSpPr/>
          <p:nvPr/>
        </p:nvSpPr>
        <p:spPr>
          <a:xfrm>
            <a:off x="5120640" y="32095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</a:rPr>
              <a:t>Universal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3502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Works on any column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</a:rPr>
              <a:t>Simple Example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/>
              <a:t>Sales data: [100, 200, 300, 400, 500]   →   Exact SUM = 1,500</a:t>
            </a:r>
          </a:p>
        </p:txBody>
      </p:sp>
      <p:sp>
        <p:nvSpPr>
          <p:cNvPr id="24" name="Text 22"/>
          <p:cNvSpPr/>
          <p:nvPr/>
        </p:nvSpPr>
        <p:spPr>
          <a:xfrm>
            <a:off x="822960" y="390448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</a:rPr>
              <a:t>Random 40% sample picks → [200, 500]   →   Approx SUM = 700   →   Error = |700 – 1500| / 1500 = 53%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422452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/>
              <a:t>Note: Larger real datasets give much smaller % error — this example is tiny on purpose.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/>
              <a:t>04  /  METHOD 2   —   Stratified Sampling   —   stratified_sampling.py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/>
              <a:t>Group first → then sample proportionally from each group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931920" cy="2331720"/>
          </a:xfrm>
          <a:prstGeom prst="rect">
            <a:avLst/>
          </a:prstGeom>
          <a:solidFill>
            <a:srgbClr val="FFFFFF"/>
          </a:solidFill>
          <a:ln w="1016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Problem with Random Sampling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sales rows: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80 Furniture rows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 Technology rows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 20% might pick: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 Furniture + 1 Technology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Technology underrepresented!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508760"/>
            <a:ext cx="3931920" cy="2331720"/>
          </a:xfrm>
          <a:prstGeom prst="rect">
            <a:avLst/>
          </a:prstGeom>
          <a:solidFill>
            <a:srgbClr val="064E3B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Stratified Fix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sales rows: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80 Furniture rows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 Technology rows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 20% gives: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16 Furniture + 4 Technology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D1FA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Perfect proportion!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DCFCE7"/>
          </a:solidFill>
          <a:ln w="10160">
            <a:solidFill>
              <a:srgbClr val="6EE7B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3" name="Text 11"/>
          <p:cNvSpPr/>
          <p:nvPr/>
        </p:nvSpPr>
        <p:spPr>
          <a:xfrm>
            <a:off x="640080" y="40416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4E3B"/>
                </a:solidFill>
              </a:rPr>
              <a:t>Key Code: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4041648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 = df.groupby(groupByCategory).sample(frac=0.40)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708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65F46"/>
                </a:solidFill>
              </a:rPr>
              <a:t>Three experiments use different groupings: [Quantity] · [Sales, Category] · [Product Name, Sub-Category, Region]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/>
              <a:t>05  /  METHOD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Sampling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adaptiveSampling.py  —  Uses adaptive.Learner1D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2468880"/>
          </a:xfrm>
          <a:prstGeom prst="rect">
            <a:avLst/>
          </a:prstGeom>
          <a:solidFill>
            <a:srgbClr val="1E1050"/>
          </a:solidFill>
          <a:ln w="1016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B5FD"/>
                </a:solidFill>
              </a:rPr>
              <a:t>How Learner1D Works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learner = adaptive.Learner1D(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f, bounds=(0, n-1)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range(max_iterations):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x_next = learner.ask(1)[0][0]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y_next = f(x_next)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learner.tell(x_next, y_next)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548640"/>
          </a:xfrm>
          <a:prstGeom prst="rect">
            <a:avLst/>
          </a:prstGeom>
          <a:solidFill>
            <a:srgbClr val="1E1050"/>
          </a:solidFill>
          <a:ln w="635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4996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Define bounds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73736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Set the range 0 to n-1 (all row indices)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084832"/>
            <a:ext cx="4023360" cy="548640"/>
          </a:xfrm>
          <a:prstGeom prst="rect">
            <a:avLst/>
          </a:prstGeom>
          <a:solidFill>
            <a:srgbClr val="1E1050"/>
          </a:solidFill>
          <a:ln w="635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5" name="Shape 13"/>
          <p:cNvSpPr/>
          <p:nvPr/>
        </p:nvSpPr>
        <p:spPr>
          <a:xfrm>
            <a:off x="4709160" y="217627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6" name="Text 14"/>
          <p:cNvSpPr/>
          <p:nvPr/>
        </p:nvSpPr>
        <p:spPr>
          <a:xfrm>
            <a:off x="4709160" y="2176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212140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Ask for next point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235915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learner.ask(1) returns the smartest index to check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706624"/>
            <a:ext cx="4023360" cy="548640"/>
          </a:xfrm>
          <a:prstGeom prst="rect">
            <a:avLst/>
          </a:prstGeom>
          <a:solidFill>
            <a:srgbClr val="1E1050"/>
          </a:solidFill>
          <a:ln w="635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0" name="Shape 18"/>
          <p:cNvSpPr/>
          <p:nvPr/>
        </p:nvSpPr>
        <p:spPr>
          <a:xfrm>
            <a:off x="4709160" y="2798064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1" name="Text 19"/>
          <p:cNvSpPr/>
          <p:nvPr/>
        </p:nvSpPr>
        <p:spPr>
          <a:xfrm>
            <a:off x="4709160" y="27980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66360" y="2743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Fetch the value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298094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f(x) retrieves the actual data at that index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328416"/>
            <a:ext cx="4023360" cy="548640"/>
          </a:xfrm>
          <a:prstGeom prst="rect">
            <a:avLst/>
          </a:prstGeom>
          <a:solidFill>
            <a:srgbClr val="1E1050"/>
          </a:solidFill>
          <a:ln w="635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5" name="Shape 23"/>
          <p:cNvSpPr/>
          <p:nvPr/>
        </p:nvSpPr>
        <p:spPr>
          <a:xfrm>
            <a:off x="4709160" y="341985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6" name="Text 24"/>
          <p:cNvSpPr/>
          <p:nvPr/>
        </p:nvSpPr>
        <p:spPr>
          <a:xfrm>
            <a:off x="4709160" y="34198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36499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Tell the learner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6027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</a:rPr>
              <a:t>learner.tell() so it learns from what it saw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0" name="Text 28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Analogy: Like a smart student who studies hardest on the topics they find most confusing — not randomly flipping to any page.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/>
              <a:t>06  /  ACCURACY MEASUREMENT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Measure Error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97480" cy="1920240"/>
          </a:xfrm>
          <a:prstGeom prst="rect">
            <a:avLst/>
          </a:prstGeom>
          <a:solidFill>
            <a:srgbClr val="2D0A0A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2697480" cy="411480"/>
          </a:xfrm>
          <a:prstGeom prst="rect">
            <a:avLst/>
          </a:prstGeom>
          <a:solidFill>
            <a:srgbClr val="F87171">
              <a:alpha val="80000"/>
            </a:srgbClr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" name="Text 4"/>
          <p:cNvSpPr/>
          <p:nvPr/>
        </p:nvSpPr>
        <p:spPr>
          <a:xfrm>
            <a:off x="566928" y="11704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Absolute Error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Approximate − Exact |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205740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Example: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30428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1,450 − 1,500 | = 50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143000"/>
            <a:ext cx="2697480" cy="1920240"/>
          </a:xfrm>
          <a:prstGeom prst="rect">
            <a:avLst/>
          </a:prstGeom>
          <a:solidFill>
            <a:srgbClr val="2D18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1" name="Shape 9"/>
          <p:cNvSpPr/>
          <p:nvPr/>
        </p:nvSpPr>
        <p:spPr>
          <a:xfrm>
            <a:off x="3355848" y="1143000"/>
            <a:ext cx="269748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2" name="Text 10"/>
          <p:cNvSpPr/>
          <p:nvPr/>
        </p:nvSpPr>
        <p:spPr>
          <a:xfrm>
            <a:off x="3465576" y="11704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Relative Error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65576" y="164592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 Error ÷ | Exact |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65576" y="205740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Example: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65576" y="230428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÷ 1,500 = 0.033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54496" y="1143000"/>
            <a:ext cx="2697480" cy="1920240"/>
          </a:xfrm>
          <a:prstGeom prst="rect">
            <a:avLst/>
          </a:prstGeom>
          <a:solidFill>
            <a:srgbClr val="0A2D1F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7" name="Shape 15"/>
          <p:cNvSpPr/>
          <p:nvPr/>
        </p:nvSpPr>
        <p:spPr>
          <a:xfrm>
            <a:off x="6254496" y="1143000"/>
            <a:ext cx="2697480" cy="411480"/>
          </a:xfrm>
          <a:prstGeom prst="rect">
            <a:avLst/>
          </a:prstGeom>
          <a:solidFill>
            <a:srgbClr val="34D399">
              <a:alpha val="80000"/>
            </a:srgbClr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8" name="Text 16"/>
          <p:cNvSpPr/>
          <p:nvPr/>
        </p:nvSpPr>
        <p:spPr>
          <a:xfrm>
            <a:off x="6364224" y="117043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Percentage Error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4224" y="1645920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 Error × 100%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4224" y="2057400"/>
            <a:ext cx="24871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Example: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64224" y="2304288"/>
            <a:ext cx="24871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0.033 × 100 = 3.3%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Performance Metrics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6974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4" name="Text 22"/>
          <p:cNvSpPr/>
          <p:nvPr/>
        </p:nvSpPr>
        <p:spPr>
          <a:xfrm>
            <a:off x="594360" y="36576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Execution Time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005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Exact vs Approx time in milliseconds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55848" y="3566160"/>
            <a:ext cx="26974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7" name="Text 25"/>
          <p:cNvSpPr/>
          <p:nvPr/>
        </p:nvSpPr>
        <p:spPr>
          <a:xfrm>
            <a:off x="3493008" y="36576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Speedup Factor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93008" y="4005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How many times faster (e.g. 3.2×)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54496" y="3566160"/>
            <a:ext cx="269748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0" name="Text 28"/>
          <p:cNvSpPr/>
          <p:nvPr/>
        </p:nvSpPr>
        <p:spPr>
          <a:xfrm>
            <a:off x="6391656" y="3657600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Time Saved (ms)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91656" y="400507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Exact time minus Approx 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10B981"/>
                </a:solidFill>
              </a:rPr>
              <a:t>07  /  CONFIDENCE INTERVALS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Sure Are We?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64E3B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7F3D0"/>
                </a:solidFill>
              </a:rPr>
              <a:t>"We are 95% confident the true SUM of Sales is between $1,450 and $1,550"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064E3B"/>
          </a:solidFill>
          <a:ln w="381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7" name="Text 5"/>
          <p:cNvSpPr/>
          <p:nvPr/>
        </p:nvSpPr>
        <p:spPr>
          <a:xfrm>
            <a:off x="594360" y="2267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Standard Error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51760" y="22677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/ √n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Measures spread of sample — smaller with more data points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8229600" cy="502920"/>
          </a:xfrm>
          <a:prstGeom prst="rect">
            <a:avLst/>
          </a:prstGeom>
          <a:solidFill>
            <a:srgbClr val="022C22"/>
          </a:solidFill>
          <a:ln w="381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Z Value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8346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norm.ppf(…)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Multiplier from statistics — larger Z = wider, safer interval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28416"/>
            <a:ext cx="8229600" cy="502920"/>
          </a:xfrm>
          <a:prstGeom prst="rect">
            <a:avLst/>
          </a:prstGeom>
          <a:solidFill>
            <a:srgbClr val="064E3B"/>
          </a:solidFill>
          <a:ln w="381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5" name="Text 13"/>
          <p:cNvSpPr/>
          <p:nvPr/>
        </p:nvSpPr>
        <p:spPr>
          <a:xfrm>
            <a:off x="59436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Margin of Error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401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 × Std Error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4015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The ± range — how far from the estimate the truth might be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8229600" cy="502920"/>
          </a:xfrm>
          <a:prstGeom prst="rect">
            <a:avLst/>
          </a:prstGeom>
          <a:solidFill>
            <a:srgbClr val="022C22"/>
          </a:solidFill>
          <a:ln w="381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9" name="Text 17"/>
          <p:cNvSpPr/>
          <p:nvPr/>
        </p:nvSpPr>
        <p:spPr>
          <a:xfrm>
            <a:off x="594360" y="39684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Lower Bound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51760" y="39684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− MoE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96849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Minimum likely value of the true answer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462272"/>
            <a:ext cx="8229600" cy="502920"/>
          </a:xfrm>
          <a:prstGeom prst="rect">
            <a:avLst/>
          </a:prstGeom>
          <a:solidFill>
            <a:srgbClr val="064E3B"/>
          </a:solidFill>
          <a:ln w="3810">
            <a:solidFill>
              <a:srgbClr val="065F4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3" name="Text 21"/>
          <p:cNvSpPr/>
          <p:nvPr/>
        </p:nvSpPr>
        <p:spPr>
          <a:xfrm>
            <a:off x="594360" y="45354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</a:rPr>
              <a:t>Upper Bound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453542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+ MoE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5354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Maximum likely value of the true answer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38BDF8"/>
                </a:solidFill>
              </a:rPr>
              <a:t>08  /  CODE WALKTHROUGH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 Explained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91440" cy="594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" name="Text 4"/>
          <p:cNvSpPr/>
          <p:nvPr/>
        </p:nvSpPr>
        <p:spPr>
          <a:xfrm>
            <a:off x="658368" y="11338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getSumAggregation(df, col)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26480" y="11338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all 3 files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40817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Runs the EXACT SUM query on the full dataset. Measures execution time.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0" name="Shape 8"/>
          <p:cNvSpPr/>
          <p:nvPr/>
        </p:nvSpPr>
        <p:spPr>
          <a:xfrm>
            <a:off x="457200" y="1755648"/>
            <a:ext cx="91440" cy="594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1" name="Text 9"/>
          <p:cNvSpPr/>
          <p:nvPr/>
        </p:nvSpPr>
        <p:spPr>
          <a:xfrm>
            <a:off x="658368" y="17922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getAproxSumAggregation(df, col, frac, exact)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17922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randomSampling.py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2066544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Runs the APPROXIMATE SUM on the sample. Computes error and CI.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914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6" name="Text 14"/>
          <p:cNvSpPr/>
          <p:nvPr/>
        </p:nvSpPr>
        <p:spPr>
          <a:xfrm>
            <a:off x="658368" y="24505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confidencInterval(df, n, level)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0" y="2450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all 3 files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" y="272491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Calculates Z value, standard error, margin of error, lower and upper bounds.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91440" cy="5943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1" name="Text 19"/>
          <p:cNvSpPr/>
          <p:nvPr/>
        </p:nvSpPr>
        <p:spPr>
          <a:xfrm>
            <a:off x="658368" y="31089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absoluteError / relativeError / percentageError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all 3 files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3383280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Three helper functions to measure how far off the approximation is.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30752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5" name="Shape 23"/>
          <p:cNvSpPr/>
          <p:nvPr/>
        </p:nvSpPr>
        <p:spPr>
          <a:xfrm>
            <a:off x="457200" y="3730752"/>
            <a:ext cx="91440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6" name="Text 24"/>
          <p:cNvSpPr/>
          <p:nvPr/>
        </p:nvSpPr>
        <p:spPr>
          <a:xfrm>
            <a:off x="658368" y="37673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plotAllMetrics(results, exp_num, col)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37673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all 3 files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4041648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Generates performance, accuracy, and confidence interval charts and saves as PNG.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111827"/>
          </a:solidFill>
          <a:ln w="6350">
            <a:solidFill>
              <a:srgbClr val="1F293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91440" cy="59436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1" name="Text 29"/>
          <p:cNvSpPr/>
          <p:nvPr/>
        </p:nvSpPr>
        <p:spPr>
          <a:xfrm>
            <a:off x="658368" y="442569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44256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all 3 files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8368" y="4700016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Loops 3 experiments, asks user for column name, runs all methods, calls plotAllMetrics.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0"/>
            <a:ext cx="4572000" cy="3657600"/>
          </a:xfrm>
          <a:prstGeom prst="ellipse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F59E0B"/>
                </a:solidFill>
              </a:rPr>
              <a:t>09  /  EXPERIMENTS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Run the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56362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Load CSV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77393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</a:rPr>
              <a:t>Read Superstore.csv with pandas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0" name="Text 8"/>
          <p:cNvSpPr/>
          <p:nvPr/>
        </p:nvSpPr>
        <p:spPr>
          <a:xfrm>
            <a:off x="457200" y="2039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0482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User Input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25856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</a:rPr>
              <a:t>Type a column name: Sales / Profit / Quantity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5328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Exact Queries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7432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</a:rPr>
              <a:t>Compute real SUM, AVG, MEDIAN (ground truth)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8" name="Text 16"/>
          <p:cNvSpPr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017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Sample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227832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</a:rPr>
              <a:t>Apply sampling method to get a subset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2" name="Text 20"/>
          <p:cNvSpPr/>
          <p:nvPr/>
        </p:nvSpPr>
        <p:spPr>
          <a:xfrm>
            <a:off x="457200" y="3493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5021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Approx Queries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712464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</a:rPr>
              <a:t>Compute SUM, AVG, MEDIAN on sample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6" name="Text 24"/>
          <p:cNvSpPr/>
          <p:nvPr/>
        </p:nvSpPr>
        <p:spPr>
          <a:xfrm>
            <a:off x="45720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986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Error Calc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197096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</a:rPr>
              <a:t>Absolute, Relative, Percentage Error + CI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462272"/>
            <a:ext cx="38404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0" name="Text 28"/>
          <p:cNvSpPr/>
          <p:nvPr/>
        </p:nvSpPr>
        <p:spPr>
          <a:xfrm>
            <a:off x="457200" y="44622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4714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Plot &amp; Save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681728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</a:rPr>
              <a:t>3 charts saved per aggregation as PNG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0" y="1508760"/>
            <a:ext cx="3474720" cy="3337560"/>
          </a:xfrm>
          <a:prstGeom prst="rect">
            <a:avLst/>
          </a:prstGeom>
          <a:solidFill>
            <a:srgbClr val="1C0A00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4" name="Text 32"/>
          <p:cNvSpPr/>
          <p:nvPr/>
        </p:nvSpPr>
        <p:spPr>
          <a:xfrm>
            <a:off x="5486400" y="1627632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Output Folders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0" y="19659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plots/</a:t>
            </a:r>
            <a:endParaRPr lang="en-US" sz="10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experiment_0/</a:t>
            </a:r>
            <a:endParaRPr lang="en-US" sz="10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performance/</a:t>
            </a:r>
            <a:endParaRPr lang="en-US" sz="10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 accuracy/</a:t>
            </a:r>
            <a:endParaRPr lang="en-US" sz="10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 confidence_interval/</a:t>
            </a:r>
            <a:endParaRPr lang="en-US" sz="10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experiment_1/</a:t>
            </a:r>
            <a:endParaRPr lang="en-US" sz="1000" dirty="0"/>
          </a:p>
          <a:p>
            <a:pPr marL="0" indent="0">
              <a:lnSpc>
                <a:spcPct val="165000"/>
              </a:lnSpc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experiment_2/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4A3B8"/>
                </a:solidFill>
              </a:rPr>
              <a:t>10  / 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Summary of All Three Methods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182880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Criteria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57400" y="1188720"/>
            <a:ext cx="2194560" cy="43891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8" name="Text 6"/>
          <p:cNvSpPr/>
          <p:nvPr/>
        </p:nvSpPr>
        <p:spPr>
          <a:xfrm>
            <a:off x="2148840" y="118872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Sampling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188720"/>
            <a:ext cx="2423160" cy="438912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0" name="Text 8"/>
          <p:cNvSpPr/>
          <p:nvPr/>
        </p:nvSpPr>
        <p:spPr>
          <a:xfrm>
            <a:off x="4343400" y="11887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Stratified Sampling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0" y="1188720"/>
            <a:ext cx="242316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2" name="Text 10"/>
          <p:cNvSpPr/>
          <p:nvPr/>
        </p:nvSpPr>
        <p:spPr>
          <a:xfrm>
            <a:off x="6766560" y="11887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Adaptive Sampling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627632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4" name="Text 12"/>
          <p:cNvSpPr/>
          <p:nvPr/>
        </p:nvSpPr>
        <p:spPr>
          <a:xfrm>
            <a:off x="320040" y="166420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1627632"/>
            <a:ext cx="2194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6" name="Text 14"/>
          <p:cNvSpPr/>
          <p:nvPr/>
        </p:nvSpPr>
        <p:spPr>
          <a:xfrm>
            <a:off x="2148840" y="1664208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randomSampling.py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1627632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8" name="Text 16"/>
          <p:cNvSpPr/>
          <p:nvPr/>
        </p:nvSpPr>
        <p:spPr>
          <a:xfrm>
            <a:off x="4343400" y="16642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stratified_sampling.py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1627632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0" name="Text 18"/>
          <p:cNvSpPr/>
          <p:nvPr/>
        </p:nvSpPr>
        <p:spPr>
          <a:xfrm>
            <a:off x="6766560" y="166420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adaptiveSampling.py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139696"/>
            <a:ext cx="182880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2" name="Text 20"/>
          <p:cNvSpPr/>
          <p:nvPr/>
        </p:nvSpPr>
        <p:spPr>
          <a:xfrm>
            <a:off x="320040" y="217627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057400" y="2139696"/>
            <a:ext cx="21945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4" name="Text 22"/>
          <p:cNvSpPr/>
          <p:nvPr/>
        </p:nvSpPr>
        <p:spPr>
          <a:xfrm>
            <a:off x="2148840" y="217627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.sample(frac=f)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2139696"/>
            <a:ext cx="24231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6" name="Text 24"/>
          <p:cNvSpPr/>
          <p:nvPr/>
        </p:nvSpPr>
        <p:spPr>
          <a:xfrm>
            <a:off x="4343400" y="21762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.groupby().sample(f)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2139696"/>
            <a:ext cx="24231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8" name="Text 26"/>
          <p:cNvSpPr/>
          <p:nvPr/>
        </p:nvSpPr>
        <p:spPr>
          <a:xfrm>
            <a:off x="6766560" y="217627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Learner1D.ask() + tell()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651760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0" name="Text 28"/>
          <p:cNvSpPr/>
          <p:nvPr/>
        </p:nvSpPr>
        <p:spPr>
          <a:xfrm>
            <a:off x="320040" y="2688336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grouping?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57400" y="2651760"/>
            <a:ext cx="2194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2" name="Text 30"/>
          <p:cNvSpPr/>
          <p:nvPr/>
        </p:nvSpPr>
        <p:spPr>
          <a:xfrm>
            <a:off x="2148840" y="2688336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2651760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4" name="Text 32"/>
          <p:cNvSpPr/>
          <p:nvPr/>
        </p:nvSpPr>
        <p:spPr>
          <a:xfrm>
            <a:off x="4343400" y="26883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(category column)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2651760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6" name="Text 34"/>
          <p:cNvSpPr/>
          <p:nvPr/>
        </p:nvSpPr>
        <p:spPr>
          <a:xfrm>
            <a:off x="6766560" y="2688336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8600" y="3163824"/>
            <a:ext cx="182880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8" name="Text 36"/>
          <p:cNvSpPr/>
          <p:nvPr/>
        </p:nvSpPr>
        <p:spPr>
          <a:xfrm>
            <a:off x="320040" y="320040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57400" y="3163824"/>
            <a:ext cx="21945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0" name="Text 38"/>
          <p:cNvSpPr/>
          <p:nvPr/>
        </p:nvSpPr>
        <p:spPr>
          <a:xfrm>
            <a:off x="2148840" y="3200400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(~95–99%)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0" y="3163824"/>
            <a:ext cx="24231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2" name="Text 40"/>
          <p:cNvSpPr/>
          <p:nvPr/>
        </p:nvSpPr>
        <p:spPr>
          <a:xfrm>
            <a:off x="4343400" y="3200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skewed 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75120" y="3163824"/>
            <a:ext cx="24231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4" name="Text 42"/>
          <p:cNvSpPr/>
          <p:nvPr/>
        </p:nvSpPr>
        <p:spPr>
          <a:xfrm>
            <a:off x="6766560" y="320040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(focuses on hard areas)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3675888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6" name="Text 44"/>
          <p:cNvSpPr/>
          <p:nvPr/>
        </p:nvSpPr>
        <p:spPr>
          <a:xfrm>
            <a:off x="320040" y="3712464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057400" y="3675888"/>
            <a:ext cx="2194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8" name="Text 46"/>
          <p:cNvSpPr/>
          <p:nvPr/>
        </p:nvSpPr>
        <p:spPr>
          <a:xfrm>
            <a:off x="2148840" y="3712464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51960" y="3675888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0" name="Text 48"/>
          <p:cNvSpPr/>
          <p:nvPr/>
        </p:nvSpPr>
        <p:spPr>
          <a:xfrm>
            <a:off x="4343400" y="371246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75120" y="3675888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2" name="Text 50"/>
          <p:cNvSpPr/>
          <p:nvPr/>
        </p:nvSpPr>
        <p:spPr>
          <a:xfrm>
            <a:off x="6766560" y="371246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 (loop per point)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187952"/>
            <a:ext cx="182880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4" name="Text 52"/>
          <p:cNvSpPr/>
          <p:nvPr/>
        </p:nvSpPr>
        <p:spPr>
          <a:xfrm>
            <a:off x="320040" y="4224528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2057400" y="4187952"/>
            <a:ext cx="21945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6" name="Text 54"/>
          <p:cNvSpPr/>
          <p:nvPr/>
        </p:nvSpPr>
        <p:spPr>
          <a:xfrm>
            <a:off x="2148840" y="4224528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random fraction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251960" y="4187952"/>
            <a:ext cx="24231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58" name="Text 56"/>
          <p:cNvSpPr/>
          <p:nvPr/>
        </p:nvSpPr>
        <p:spPr>
          <a:xfrm>
            <a:off x="4343400" y="42245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different groupings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75120" y="4187952"/>
            <a:ext cx="2423160" cy="512064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0" name="Text 58"/>
          <p:cNvSpPr/>
          <p:nvPr/>
        </p:nvSpPr>
        <p:spPr>
          <a:xfrm>
            <a:off x="6766560" y="42245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iteration counts (55/60/30)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8600" y="4700016"/>
            <a:ext cx="182880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2" name="Text 60"/>
          <p:cNvSpPr/>
          <p:nvPr/>
        </p:nvSpPr>
        <p:spPr>
          <a:xfrm>
            <a:off x="320040" y="473659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2057400" y="4700016"/>
            <a:ext cx="21945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4" name="Text 62"/>
          <p:cNvSpPr/>
          <p:nvPr/>
        </p:nvSpPr>
        <p:spPr>
          <a:xfrm>
            <a:off x="2148840" y="4736592"/>
            <a:ext cx="2057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251960" y="4700016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6" name="Text 64"/>
          <p:cNvSpPr/>
          <p:nvPr/>
        </p:nvSpPr>
        <p:spPr>
          <a:xfrm>
            <a:off x="4343400" y="4736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groups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75120" y="4700016"/>
            <a:ext cx="2423160" cy="51206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68" name="Text 66"/>
          <p:cNvSpPr/>
          <p:nvPr/>
        </p:nvSpPr>
        <p:spPr>
          <a:xfrm>
            <a:off x="6766560" y="473659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distributions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C4B5FD"/>
                </a:solidFill>
              </a:rPr>
              <a:t>11  / 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694944"/>
          </a:xfrm>
          <a:prstGeom prst="rect">
            <a:avLst/>
          </a:prstGeom>
          <a:solidFill>
            <a:srgbClr val="160D3C"/>
          </a:solidFill>
          <a:ln w="381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0972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8" name="Text 6"/>
          <p:cNvSpPr/>
          <p:nvPr/>
        </p:nvSpPr>
        <p:spPr>
          <a:xfrm>
            <a:off x="658368" y="1225296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22529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Speed vs Accuracy Trade-off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4533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</a:rPr>
              <a:t>Approximate queries run 2–10× faster with only 1–5% error — a great trade-off for large datasets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56816"/>
            <a:ext cx="8229600" cy="694944"/>
          </a:xfrm>
          <a:prstGeom prst="rect">
            <a:avLst/>
          </a:prstGeom>
          <a:solidFill>
            <a:srgbClr val="160D3C"/>
          </a:solidFill>
          <a:ln w="381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2" name="Shape 10"/>
          <p:cNvSpPr/>
          <p:nvPr/>
        </p:nvSpPr>
        <p:spPr>
          <a:xfrm>
            <a:off x="457200" y="1956816"/>
            <a:ext cx="109728" cy="6949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3" name="Text 11"/>
          <p:cNvSpPr/>
          <p:nvPr/>
        </p:nvSpPr>
        <p:spPr>
          <a:xfrm>
            <a:off x="658368" y="1993392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19933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Stratified &gt; Random for Skewed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23134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</a:rPr>
              <a:t>When data has unequal group sizes, stratified sampling guarantees fair representation and higher accuracy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8229600" cy="694944"/>
          </a:xfrm>
          <a:prstGeom prst="rect">
            <a:avLst/>
          </a:prstGeom>
          <a:solidFill>
            <a:srgbClr val="160D3C"/>
          </a:solidFill>
          <a:ln w="381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7" name="Shape 15"/>
          <p:cNvSpPr/>
          <p:nvPr/>
        </p:nvSpPr>
        <p:spPr>
          <a:xfrm>
            <a:off x="457200" y="2724912"/>
            <a:ext cx="109728" cy="69494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18" name="Text 16"/>
          <p:cNvSpPr/>
          <p:nvPr/>
        </p:nvSpPr>
        <p:spPr>
          <a:xfrm>
            <a:off x="658368" y="2761488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72B6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7614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Adaptive = Intelligent Sampling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081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</a:rPr>
              <a:t>Learner1D focuses sampling effort on complex or rapidly-changing parts of the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694944"/>
          </a:xfrm>
          <a:prstGeom prst="rect">
            <a:avLst/>
          </a:prstGeom>
          <a:solidFill>
            <a:srgbClr val="160D3C"/>
          </a:solidFill>
          <a:ln w="381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109728" cy="6949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3" name="Text 21"/>
          <p:cNvSpPr/>
          <p:nvPr/>
        </p:nvSpPr>
        <p:spPr>
          <a:xfrm>
            <a:off x="658368" y="3529584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8BDF8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35295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Confidence Intervals Quantify Uncertainty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38496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</a:rPr>
              <a:t>Instead of just one number, we return a range — telling the professor how confident we are in the estimate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61104"/>
            <a:ext cx="8229600" cy="694944"/>
          </a:xfrm>
          <a:prstGeom prst="rect">
            <a:avLst/>
          </a:prstGeom>
          <a:solidFill>
            <a:srgbClr val="160D3C"/>
          </a:solidFill>
          <a:ln w="3810">
            <a:solidFill>
              <a:srgbClr val="2D1B69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7" name="Shape 25"/>
          <p:cNvSpPr/>
          <p:nvPr/>
        </p:nvSpPr>
        <p:spPr>
          <a:xfrm>
            <a:off x="457200" y="4261104"/>
            <a:ext cx="109728" cy="694944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  <p:txBody>
          <a:bodyPr/>
          <a:lstStyle/>
          <a:p>
            <a:endParaRPr lang="en-VI"/>
          </a:p>
        </p:txBody>
      </p:sp>
      <p:sp>
        <p:nvSpPr>
          <p:cNvPr id="28" name="Text 26"/>
          <p:cNvSpPr/>
          <p:nvPr/>
        </p:nvSpPr>
        <p:spPr>
          <a:xfrm>
            <a:off x="658368" y="429768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923C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2976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All Methods Produce Visual Proof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430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78BFA"/>
                </a:solidFill>
              </a:rPr>
              <a:t>Each run saves performance, accuracy, and CI charts so results can be compared visually across experiments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1437</Words>
  <Application>Microsoft Office PowerPoint</Application>
  <PresentationFormat>On-screen Show (16:9)</PresentationFormat>
  <Paragraphs>299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Approximate Query Processing</dc:title>
  <dc:subject>PptxGenJS Presentation</dc:subject>
  <dc:creator>PptxGenJS</dc:creator>
  <cp:lastModifiedBy>Md Masum Billah</cp:lastModifiedBy>
  <cp:revision>4</cp:revision>
  <dcterms:created xsi:type="dcterms:W3CDTF">2026-04-26T14:51:18Z</dcterms:created>
  <dcterms:modified xsi:type="dcterms:W3CDTF">2026-04-26T15:07:35Z</dcterms:modified>
</cp:coreProperties>
</file>